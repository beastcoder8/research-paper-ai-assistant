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First, compared to their classmates, students from</a:t>
            </a:r>
          </a:p>
          <a:p>
            <a:r>
              <a:t>disadvantaged backgrounds (lower-income students de_x000C_ned as those with below-median parental income,</a:t>
            </a:r>
          </a:p>
          <a:p>
            <a:r>
              <a:t>racial minorities, and _x000C_rst-generation students) experienced larger negative impacts for the academic out-</a:t>
            </a:r>
          </a:p>
          <a:p>
            <a:r>
              <a:t>comes, as shown in the _x000C_rst three panels of the _x000C_gure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10The trends are most striking for lower-income</a:t>
            </a:r>
          </a:p>
          <a:p>
            <a:r>
              <a:t>students, who are 55% more likely to delay graduation due to COVID-19 than their more a_x000F_uent class-</a:t>
            </a:r>
          </a:p>
          <a:p>
            <a:r>
              <a:t>mates (0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increase in the proportion of those expecting to delay graduation versus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10), expect 30%</a:t>
            </a:r>
          </a:p>
          <a:p>
            <a:r>
              <a:t>larger negative e</a:t>
            </a:r>
            <a:br/>
            <a:r>
              <a:t>ects on their semester GPA due to COVID-19, and are 41% more likely to report that</a:t>
            </a:r>
          </a:p>
          <a:p>
            <a:r>
              <a:t>COVID-19 impacted their major choice (these di</a:t>
            </a:r>
            <a:br/>
            <a:r>
              <a:t>erences are statistically signi_x000C_cant at the 5% level)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Because we collect information conditional on both states of</a:t>
            </a:r>
          </a:p>
          <a:p>
            <a:r>
              <a:t>the world (with the COVID-19 pandemic, and without) from each student , we can directly analyze how</a:t>
            </a:r>
          </a:p>
          <a:p>
            <a:r>
              <a:t>each student believes COVID-19 has impacted their current and future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2For example, by asking</a:t>
            </a:r>
          </a:p>
          <a:p>
            <a:r>
              <a:t>students about their current GPA in a post-COVID-19 world and their expected GPA in the absence of</a:t>
            </a:r>
          </a:p>
          <a:p>
            <a:r>
              <a:t>COVID-19, we can back out the subjective treatment e</a:t>
            </a:r>
            <a:br/>
            <a:r>
              <a:t>ect of COVID-19 on academic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This large variation in the treatment e</a:t>
            </a:r>
            <a:br/>
            <a:r>
              <a:t>ects of COVID-19 is apparent in several of the other outcomes,</a:t>
            </a:r>
          </a:p>
          <a:p>
            <a:r>
              <a:t>such as study hours, where the average treatment e</a:t>
            </a:r>
            <a:br/>
            <a:r>
              <a:t>ect of COVID-19 on weekly study hours is -0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 (that is,</a:t>
            </a:r>
          </a:p>
          <a:p>
            <a:r>
              <a:t>students spend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 less hours studying per week due to COVID-19)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 expected, the COVID-19 outbreak also had large negative e</a:t>
            </a:r>
            <a:br/>
            <a:r>
              <a:t>ects on students' current labor market</a:t>
            </a:r>
          </a:p>
          <a:p>
            <a:r>
              <a:t>participation and expectations about post-college labor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For example, compared to their more a_x000F_uent peers, lower-income students are 55%</a:t>
            </a:r>
          </a:p>
          <a:p>
            <a:r>
              <a:t>more likely to delay graduation due to COVID-19 and are 41% more likely to report that COVID-19 impacted</a:t>
            </a:r>
          </a:p>
          <a:p>
            <a:r>
              <a:t>their major choice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